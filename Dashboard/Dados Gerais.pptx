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F64"/>
    <a:srgbClr val="44546A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6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9580-5DA8-4B65-99CC-98DF03706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B528BE-D2AE-4ABA-89B7-3F6C63594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8F831D-514F-4E60-ACC7-FAAF2073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F282B7-81A6-4878-A5CE-5B1D5A6D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31A711-9DBB-480C-81AE-DBC22B9E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81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ED08F-509B-4087-B511-8660B003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15D8E-CAC5-45FC-9D9D-14EEE516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E3AAEE-A2C2-4FD8-B2FB-AC5B85D6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376716-F03C-409F-9915-E75C9D00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DD2883-935B-4FA9-8B28-138EB9EB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7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73662-F32C-4EE1-A0B1-5B22157C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40B39B-99E1-42BC-84D0-0F706D93D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4B447C-8DCC-43B4-BC6A-3531342A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91BEC8-D1FA-444E-86E1-95AD7521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5C62F-F227-40DF-8E82-43E278DF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48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A93DE-D4F4-4720-A50F-B88202F9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B0470-108A-4847-8542-B287167A3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A91BCE-7C92-445E-A6AF-655664461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18AC55-6FA2-4495-8F51-8C0FA21A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E39B13-8877-45D2-9349-772D3ED8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70A25D-F8C1-4E26-BCB5-BED8B902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38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1DF28-786A-4C66-BF60-160DB05E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F75CE8-F01D-4BC3-AE17-A73B731A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42D19C-95C7-4AAE-A259-4D793A3C6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93F942-9AAA-4A8B-8974-2EFA17B20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F20E3E-ECAA-42A3-98EA-A9D53F33E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316537-2B1A-44B1-99BB-68B14466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D3C1C0-8926-4188-B395-123E9D07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AB3A40-38DA-41B3-B31B-470F210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69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AB9A1-DDBA-496A-A49E-01D34225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7F7453-5DA7-4469-8348-949415E2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1871DC-5C2B-4D37-A423-FA577072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485704-7977-44BB-839D-B6EFBD13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90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5DBDF56-02C3-4B36-8740-E6ADDFF4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1F935F-6324-46BC-A02C-353D2960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84A495-5EF8-4272-88D1-AD6536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08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C3167-6340-40C8-B9CE-E140D1F74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79BE1-ABFC-4CFD-906B-83F73959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43E0C4-F113-4811-B66B-279049BD7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8F965C-D642-4361-93FC-B632B66F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AC6B75-2A26-406F-9856-2F020196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93A8CF-A3FC-490A-A576-59390E09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94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E786A-1363-421A-BD9B-6C238267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C45CFB-A9D7-484F-8CA8-635E83FD1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828CEF-FD4D-46A6-8BA5-E5DC88049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49311E-5DA2-41BC-A06E-A5DEABFD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56AE55-FF39-4133-A09A-E77F63C8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23D693-EE5C-43E6-BF68-7FAFCDD7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46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CC4B8-4206-4FA3-92D0-B2B791A6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6BB30C-345B-4C18-8FF6-03CEDF035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11C4DE-85F7-4194-9E87-AA7651A1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2D704B-CBEC-4BA1-879E-6863F553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D9C59C-8E64-4A18-BE69-BC5BE9B6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42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457859-8B37-426D-87D1-7943F9E6D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90D9AD-0D91-475C-A559-9FC0EA3F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530CC-267F-4803-B512-18467AF0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536F2D-D370-4A8C-AA7B-5C87AC14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6196C6-44FF-47DC-9610-96F63EDA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22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14904EA-EC35-44DC-B572-61FD9ABE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345227-A092-4DEF-A273-6CFD4635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C917F7-029C-4A54-BD81-A2006C446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E3CC8-7B9F-454B-BC34-92CD52E7C0C0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2BBD8-30A0-4CF8-91EA-A9DE77A85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450612-FADD-46A5-96FC-21F2926DE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B745A-EC59-4E1E-B6EE-49FDEA0F75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3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12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DD256ADD-98AC-455C-8C77-1C77D863F0D2}"/>
              </a:ext>
            </a:extLst>
          </p:cNvPr>
          <p:cNvSpPr/>
          <p:nvPr/>
        </p:nvSpPr>
        <p:spPr>
          <a:xfrm>
            <a:off x="7187757" y="4610893"/>
            <a:ext cx="4606308" cy="207370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039C13E-36F2-4F5F-A83A-215B9FB48786}"/>
              </a:ext>
            </a:extLst>
          </p:cNvPr>
          <p:cNvSpPr/>
          <p:nvPr/>
        </p:nvSpPr>
        <p:spPr>
          <a:xfrm>
            <a:off x="2119407" y="596689"/>
            <a:ext cx="2332917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339989BC-DD4D-4E50-B221-87AC8F89A874}"/>
              </a:ext>
            </a:extLst>
          </p:cNvPr>
          <p:cNvSpPr/>
          <p:nvPr/>
        </p:nvSpPr>
        <p:spPr>
          <a:xfrm rot="5400000">
            <a:off x="-2695356" y="2394836"/>
            <a:ext cx="7162801" cy="1763530"/>
          </a:xfrm>
          <a:prstGeom prst="round2SameRect">
            <a:avLst/>
          </a:prstGeom>
          <a:solidFill>
            <a:srgbClr val="3A3F6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AAB12C-0010-4307-840C-52113B52F1FF}"/>
              </a:ext>
            </a:extLst>
          </p:cNvPr>
          <p:cNvSpPr/>
          <p:nvPr/>
        </p:nvSpPr>
        <p:spPr>
          <a:xfrm>
            <a:off x="2119408" y="4610893"/>
            <a:ext cx="4606308" cy="207370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E2649E-A249-4002-9B2E-A34A26E2F275}"/>
              </a:ext>
            </a:extLst>
          </p:cNvPr>
          <p:cNvSpPr txBox="1"/>
          <p:nvPr/>
        </p:nvSpPr>
        <p:spPr>
          <a:xfrm>
            <a:off x="2821707" y="4743890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Receita Mensal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3AD1838-DA89-4936-BBCC-D7BDB8ABEE4C}"/>
              </a:ext>
            </a:extLst>
          </p:cNvPr>
          <p:cNvSpPr txBox="1"/>
          <p:nvPr/>
        </p:nvSpPr>
        <p:spPr>
          <a:xfrm>
            <a:off x="40798" y="484214"/>
            <a:ext cx="156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Dados Gerais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83910D7-4E96-44C4-8E24-E9D6AF8AC74B}"/>
              </a:ext>
            </a:extLst>
          </p:cNvPr>
          <p:cNvSpPr txBox="1"/>
          <p:nvPr/>
        </p:nvSpPr>
        <p:spPr>
          <a:xfrm>
            <a:off x="2521923" y="644142"/>
            <a:ext cx="193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de Clientes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4A0ED93-D9E9-40B3-9A80-830D319669C3}"/>
              </a:ext>
            </a:extLst>
          </p:cNvPr>
          <p:cNvSpPr/>
          <p:nvPr/>
        </p:nvSpPr>
        <p:spPr>
          <a:xfrm>
            <a:off x="2119407" y="1693333"/>
            <a:ext cx="3375460" cy="253113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FA40619-F6AD-4AFA-AA6F-54632AD0F1DC}"/>
              </a:ext>
            </a:extLst>
          </p:cNvPr>
          <p:cNvSpPr/>
          <p:nvPr/>
        </p:nvSpPr>
        <p:spPr>
          <a:xfrm>
            <a:off x="4854840" y="597014"/>
            <a:ext cx="2332917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4FD4F58-F152-4A00-8E3E-C9043D49CFC2}"/>
              </a:ext>
            </a:extLst>
          </p:cNvPr>
          <p:cNvSpPr/>
          <p:nvPr/>
        </p:nvSpPr>
        <p:spPr>
          <a:xfrm>
            <a:off x="7739676" y="596689"/>
            <a:ext cx="2332917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D836AAD-CF9C-4FBC-AF7D-7B02C643C276}"/>
              </a:ext>
            </a:extLst>
          </p:cNvPr>
          <p:cNvSpPr txBox="1"/>
          <p:nvPr/>
        </p:nvSpPr>
        <p:spPr>
          <a:xfrm>
            <a:off x="7890193" y="4736207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Ticket Médio</a:t>
            </a:r>
          </a:p>
        </p:txBody>
      </p:sp>
      <p:pic>
        <p:nvPicPr>
          <p:cNvPr id="42" name="Gráfico 41" descr="Dinheiro com preenchimento sólido">
            <a:extLst>
              <a:ext uri="{FF2B5EF4-FFF2-40B4-BE49-F238E27FC236}">
                <a16:creationId xmlns:a16="http://schemas.microsoft.com/office/drawing/2014/main" id="{0DB46355-BE3B-4EFB-94CB-FB5103E64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0090" y="4728524"/>
            <a:ext cx="390235" cy="315460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B0715A57-4E91-43DF-86D9-73D863C6EA38}"/>
              </a:ext>
            </a:extLst>
          </p:cNvPr>
          <p:cNvSpPr txBox="1"/>
          <p:nvPr/>
        </p:nvSpPr>
        <p:spPr>
          <a:xfrm>
            <a:off x="2801839" y="182418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Taxa de Cancelamento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D4550C4-C10E-4984-BD89-70A367B166C3}"/>
              </a:ext>
            </a:extLst>
          </p:cNvPr>
          <p:cNvSpPr/>
          <p:nvPr/>
        </p:nvSpPr>
        <p:spPr>
          <a:xfrm>
            <a:off x="5888422" y="1693333"/>
            <a:ext cx="5905643" cy="253113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7963E7-6E81-4DB5-968A-8AE5DB679349}"/>
              </a:ext>
            </a:extLst>
          </p:cNvPr>
          <p:cNvSpPr txBox="1"/>
          <p:nvPr/>
        </p:nvSpPr>
        <p:spPr>
          <a:xfrm>
            <a:off x="6570855" y="182418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Segmentos de Risco</a:t>
            </a:r>
          </a:p>
        </p:txBody>
      </p:sp>
      <p:pic>
        <p:nvPicPr>
          <p:cNvPr id="10" name="Gráfico 9" descr="Gráfico de pizza com preenchimento sólido">
            <a:extLst>
              <a:ext uri="{FF2B5EF4-FFF2-40B4-BE49-F238E27FC236}">
                <a16:creationId xmlns:a16="http://schemas.microsoft.com/office/drawing/2014/main" id="{0112D3CD-DE40-40D2-9428-6377C6932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0855" y="1824185"/>
            <a:ext cx="360000" cy="360000"/>
          </a:xfrm>
          <a:prstGeom prst="rect">
            <a:avLst/>
          </a:prstGeom>
        </p:spPr>
      </p:pic>
      <p:pic>
        <p:nvPicPr>
          <p:cNvPr id="48" name="Gráfico 47" descr="Usuário com preenchimento sólido">
            <a:extLst>
              <a:ext uri="{FF2B5EF4-FFF2-40B4-BE49-F238E27FC236}">
                <a16:creationId xmlns:a16="http://schemas.microsoft.com/office/drawing/2014/main" id="{114A77F9-AC8E-48C6-B7EE-410714287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4923" y="644142"/>
            <a:ext cx="276999" cy="276999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1BE221-2D7C-4DCF-9233-F8D3A7359314}"/>
              </a:ext>
            </a:extLst>
          </p:cNvPr>
          <p:cNvSpPr txBox="1"/>
          <p:nvPr/>
        </p:nvSpPr>
        <p:spPr>
          <a:xfrm>
            <a:off x="5229985" y="644467"/>
            <a:ext cx="193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Ativos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397403BC-1440-449F-A670-995465679461}"/>
              </a:ext>
            </a:extLst>
          </p:cNvPr>
          <p:cNvSpPr txBox="1"/>
          <p:nvPr/>
        </p:nvSpPr>
        <p:spPr>
          <a:xfrm>
            <a:off x="8142193" y="644142"/>
            <a:ext cx="193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Cancelaram</a:t>
            </a:r>
          </a:p>
        </p:txBody>
      </p:sp>
      <p:pic>
        <p:nvPicPr>
          <p:cNvPr id="55" name="Gráfico 54" descr="Marca de seleção com preenchimento sólido">
            <a:extLst>
              <a:ext uri="{FF2B5EF4-FFF2-40B4-BE49-F238E27FC236}">
                <a16:creationId xmlns:a16="http://schemas.microsoft.com/office/drawing/2014/main" id="{7D5E16D3-8608-4F8F-A1E6-C6C9E3984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6568" y="669466"/>
            <a:ext cx="252000" cy="252000"/>
          </a:xfrm>
          <a:prstGeom prst="rect">
            <a:avLst/>
          </a:prstGeom>
        </p:spPr>
      </p:pic>
      <p:pic>
        <p:nvPicPr>
          <p:cNvPr id="57" name="Gráfico 56" descr="Fechar com preenchimento sólido">
            <a:extLst>
              <a:ext uri="{FF2B5EF4-FFF2-40B4-BE49-F238E27FC236}">
                <a16:creationId xmlns:a16="http://schemas.microsoft.com/office/drawing/2014/main" id="{36F452B8-B955-48A0-90FD-32BA4B0FE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0193" y="671376"/>
            <a:ext cx="252000" cy="252000"/>
          </a:xfrm>
          <a:prstGeom prst="rect">
            <a:avLst/>
          </a:prstGeom>
        </p:spPr>
      </p:pic>
      <p:pic>
        <p:nvPicPr>
          <p:cNvPr id="61" name="Gráfico 60" descr="Aviso com preenchimento sólido">
            <a:extLst>
              <a:ext uri="{FF2B5EF4-FFF2-40B4-BE49-F238E27FC236}">
                <a16:creationId xmlns:a16="http://schemas.microsoft.com/office/drawing/2014/main" id="{411F1B98-A65A-45C5-A619-1CF4640C82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79418" y="1798073"/>
            <a:ext cx="360000" cy="360000"/>
          </a:xfrm>
          <a:prstGeom prst="rect">
            <a:avLst/>
          </a:prstGeom>
        </p:spPr>
      </p:pic>
      <p:pic>
        <p:nvPicPr>
          <p:cNvPr id="64" name="Gráfico 63" descr="Pesquisa com preenchimento sólido">
            <a:extLst>
              <a:ext uri="{FF2B5EF4-FFF2-40B4-BE49-F238E27FC236}">
                <a16:creationId xmlns:a16="http://schemas.microsoft.com/office/drawing/2014/main" id="{516B6974-84F3-427E-91DB-6EF53CDC69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82430" y="596187"/>
            <a:ext cx="710725" cy="710725"/>
          </a:xfrm>
          <a:prstGeom prst="rect">
            <a:avLst/>
          </a:prstGeom>
        </p:spPr>
      </p:pic>
      <p:pic>
        <p:nvPicPr>
          <p:cNvPr id="67" name="Gráfico 66" descr="Moedas com preenchimento sólido">
            <a:extLst>
              <a:ext uri="{FF2B5EF4-FFF2-40B4-BE49-F238E27FC236}">
                <a16:creationId xmlns:a16="http://schemas.microsoft.com/office/drawing/2014/main" id="{17205905-9271-47AE-AFA3-A328F9B317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89707" y="4670254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4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CE366DD-D44F-48FA-9CD7-DD3AF813356C}"/>
              </a:ext>
            </a:extLst>
          </p:cNvPr>
          <p:cNvSpPr/>
          <p:nvPr/>
        </p:nvSpPr>
        <p:spPr>
          <a:xfrm>
            <a:off x="2119407" y="1712392"/>
            <a:ext cx="4633680" cy="253113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039C13E-36F2-4F5F-A83A-215B9FB48786}"/>
              </a:ext>
            </a:extLst>
          </p:cNvPr>
          <p:cNvSpPr/>
          <p:nvPr/>
        </p:nvSpPr>
        <p:spPr>
          <a:xfrm>
            <a:off x="2991078" y="596876"/>
            <a:ext cx="2426970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339989BC-DD4D-4E50-B221-87AC8F89A874}"/>
              </a:ext>
            </a:extLst>
          </p:cNvPr>
          <p:cNvSpPr/>
          <p:nvPr/>
        </p:nvSpPr>
        <p:spPr>
          <a:xfrm rot="5400000">
            <a:off x="-2695356" y="2394836"/>
            <a:ext cx="7162801" cy="1763530"/>
          </a:xfrm>
          <a:prstGeom prst="round2SameRect">
            <a:avLst/>
          </a:prstGeom>
          <a:solidFill>
            <a:srgbClr val="3A3F6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AAB12C-0010-4307-840C-52113B52F1FF}"/>
              </a:ext>
            </a:extLst>
          </p:cNvPr>
          <p:cNvSpPr/>
          <p:nvPr/>
        </p:nvSpPr>
        <p:spPr>
          <a:xfrm>
            <a:off x="2119407" y="4610893"/>
            <a:ext cx="9674659" cy="207370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E2649E-A249-4002-9B2E-A34A26E2F275}"/>
              </a:ext>
            </a:extLst>
          </p:cNvPr>
          <p:cNvSpPr txBox="1"/>
          <p:nvPr/>
        </p:nvSpPr>
        <p:spPr>
          <a:xfrm>
            <a:off x="2821707" y="4743890"/>
            <a:ext cx="2904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Casado (a) e Dependentes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3AD1838-DA89-4936-BBCC-D7BDB8ABEE4C}"/>
              </a:ext>
            </a:extLst>
          </p:cNvPr>
          <p:cNvSpPr txBox="1"/>
          <p:nvPr/>
        </p:nvSpPr>
        <p:spPr>
          <a:xfrm>
            <a:off x="40798" y="484214"/>
            <a:ext cx="1642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Mapeamento de Perfil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83910D7-4E96-44C4-8E24-E9D6AF8AC74B}"/>
              </a:ext>
            </a:extLst>
          </p:cNvPr>
          <p:cNvSpPr txBox="1"/>
          <p:nvPr/>
        </p:nvSpPr>
        <p:spPr>
          <a:xfrm>
            <a:off x="3393594" y="644329"/>
            <a:ext cx="193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Casados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FA40619-F6AD-4AFA-AA6F-54632AD0F1DC}"/>
              </a:ext>
            </a:extLst>
          </p:cNvPr>
          <p:cNvSpPr/>
          <p:nvPr/>
        </p:nvSpPr>
        <p:spPr>
          <a:xfrm>
            <a:off x="5726511" y="597201"/>
            <a:ext cx="2454645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4FD4F58-F152-4A00-8E3E-C9043D49CFC2}"/>
              </a:ext>
            </a:extLst>
          </p:cNvPr>
          <p:cNvSpPr/>
          <p:nvPr/>
        </p:nvSpPr>
        <p:spPr>
          <a:xfrm>
            <a:off x="8611347" y="596876"/>
            <a:ext cx="2426970" cy="71022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0715A57-4E91-43DF-86D9-73D863C6EA38}"/>
              </a:ext>
            </a:extLst>
          </p:cNvPr>
          <p:cNvSpPr txBox="1"/>
          <p:nvPr/>
        </p:nvSpPr>
        <p:spPr>
          <a:xfrm>
            <a:off x="2801839" y="182418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Idoso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D4550C4-C10E-4984-BD89-70A367B166C3}"/>
              </a:ext>
            </a:extLst>
          </p:cNvPr>
          <p:cNvSpPr/>
          <p:nvPr/>
        </p:nvSpPr>
        <p:spPr>
          <a:xfrm>
            <a:off x="7160385" y="1693333"/>
            <a:ext cx="4633680" cy="253113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7963E7-6E81-4DB5-968A-8AE5DB679349}"/>
              </a:ext>
            </a:extLst>
          </p:cNvPr>
          <p:cNvSpPr txBox="1"/>
          <p:nvPr/>
        </p:nvSpPr>
        <p:spPr>
          <a:xfrm>
            <a:off x="7877740" y="182418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Gênero</a:t>
            </a:r>
          </a:p>
        </p:txBody>
      </p:sp>
      <p:pic>
        <p:nvPicPr>
          <p:cNvPr id="48" name="Gráfico 47" descr="Usuário com preenchimento sólido">
            <a:extLst>
              <a:ext uri="{FF2B5EF4-FFF2-40B4-BE49-F238E27FC236}">
                <a16:creationId xmlns:a16="http://schemas.microsoft.com/office/drawing/2014/main" id="{114A77F9-AC8E-48C6-B7EE-410714287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5456" y="1839573"/>
            <a:ext cx="276999" cy="276999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1BE221-2D7C-4DCF-9233-F8D3A7359314}"/>
              </a:ext>
            </a:extLst>
          </p:cNvPr>
          <p:cNvSpPr txBox="1"/>
          <p:nvPr/>
        </p:nvSpPr>
        <p:spPr>
          <a:xfrm>
            <a:off x="6101656" y="644654"/>
            <a:ext cx="2079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com Dependentes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397403BC-1440-449F-A670-995465679461}"/>
              </a:ext>
            </a:extLst>
          </p:cNvPr>
          <p:cNvSpPr txBox="1"/>
          <p:nvPr/>
        </p:nvSpPr>
        <p:spPr>
          <a:xfrm>
            <a:off x="9036903" y="685829"/>
            <a:ext cx="193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Idosos</a:t>
            </a:r>
          </a:p>
        </p:txBody>
      </p:sp>
      <p:pic>
        <p:nvPicPr>
          <p:cNvPr id="3" name="Gráfico 2" descr="Homem com bengala com preenchimento sólido">
            <a:extLst>
              <a:ext uri="{FF2B5EF4-FFF2-40B4-BE49-F238E27FC236}">
                <a16:creationId xmlns:a16="http://schemas.microsoft.com/office/drawing/2014/main" id="{8E63E514-9BA9-401B-9A57-19EA426C21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9811" y="644329"/>
            <a:ext cx="360000" cy="360000"/>
          </a:xfrm>
          <a:prstGeom prst="rect">
            <a:avLst/>
          </a:prstGeom>
        </p:spPr>
      </p:pic>
      <p:pic>
        <p:nvPicPr>
          <p:cNvPr id="5" name="Gráfico 4" descr="Crianças com preenchimento sólido">
            <a:extLst>
              <a:ext uri="{FF2B5EF4-FFF2-40B4-BE49-F238E27FC236}">
                <a16:creationId xmlns:a16="http://schemas.microsoft.com/office/drawing/2014/main" id="{C7B4936F-4B93-4016-B9F4-9DBA4F6D1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3193" y="602828"/>
            <a:ext cx="360000" cy="360000"/>
          </a:xfrm>
          <a:prstGeom prst="rect">
            <a:avLst/>
          </a:prstGeom>
        </p:spPr>
      </p:pic>
      <p:pic>
        <p:nvPicPr>
          <p:cNvPr id="8" name="Gráfico 7" descr="Homem e mulher com preenchimento sólido">
            <a:extLst>
              <a:ext uri="{FF2B5EF4-FFF2-40B4-BE49-F238E27FC236}">
                <a16:creationId xmlns:a16="http://schemas.microsoft.com/office/drawing/2014/main" id="{007CD0F3-98DE-4465-91E2-5B4DFA6602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5131" y="639808"/>
            <a:ext cx="360000" cy="360000"/>
          </a:xfrm>
          <a:prstGeom prst="rect">
            <a:avLst/>
          </a:prstGeom>
        </p:spPr>
      </p:pic>
      <p:pic>
        <p:nvPicPr>
          <p:cNvPr id="36" name="Gráfico 35" descr="Crianças com preenchimento sólido">
            <a:extLst>
              <a:ext uri="{FF2B5EF4-FFF2-40B4-BE49-F238E27FC236}">
                <a16:creationId xmlns:a16="http://schemas.microsoft.com/office/drawing/2014/main" id="{ECD94A1F-24D0-4339-89AC-1CB3D6559D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8913" y="4717778"/>
            <a:ext cx="360000" cy="360000"/>
          </a:xfrm>
          <a:prstGeom prst="rect">
            <a:avLst/>
          </a:prstGeom>
        </p:spPr>
      </p:pic>
      <p:pic>
        <p:nvPicPr>
          <p:cNvPr id="37" name="Gráfico 36" descr="Homem com bengala com preenchimento sólido">
            <a:extLst>
              <a:ext uri="{FF2B5EF4-FFF2-40B4-BE49-F238E27FC236}">
                <a16:creationId xmlns:a16="http://schemas.microsoft.com/office/drawing/2014/main" id="{76089114-8FC2-4D7C-819B-AEFB0701C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6041" y="179807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2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339989BC-DD4D-4E50-B221-87AC8F89A874}"/>
              </a:ext>
            </a:extLst>
          </p:cNvPr>
          <p:cNvSpPr/>
          <p:nvPr/>
        </p:nvSpPr>
        <p:spPr>
          <a:xfrm rot="5400000">
            <a:off x="-2695356" y="2394836"/>
            <a:ext cx="7162801" cy="1763530"/>
          </a:xfrm>
          <a:prstGeom prst="round2SameRect">
            <a:avLst/>
          </a:prstGeom>
          <a:solidFill>
            <a:srgbClr val="3A3F6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AAB12C-0010-4307-840C-52113B52F1FF}"/>
              </a:ext>
            </a:extLst>
          </p:cNvPr>
          <p:cNvSpPr/>
          <p:nvPr/>
        </p:nvSpPr>
        <p:spPr>
          <a:xfrm>
            <a:off x="2119407" y="4610893"/>
            <a:ext cx="4623137" cy="207370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E2649E-A249-4002-9B2E-A34A26E2F275}"/>
              </a:ext>
            </a:extLst>
          </p:cNvPr>
          <p:cNvSpPr txBox="1"/>
          <p:nvPr/>
        </p:nvSpPr>
        <p:spPr>
          <a:xfrm>
            <a:off x="2821707" y="4743890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Serviço Telefônico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3AD1838-DA89-4936-BBCC-D7BDB8ABEE4C}"/>
              </a:ext>
            </a:extLst>
          </p:cNvPr>
          <p:cNvSpPr txBox="1"/>
          <p:nvPr/>
        </p:nvSpPr>
        <p:spPr>
          <a:xfrm>
            <a:off x="40798" y="484214"/>
            <a:ext cx="1567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Dados por Serviço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4A0ED93-D9E9-40B3-9A80-830D319669C3}"/>
              </a:ext>
            </a:extLst>
          </p:cNvPr>
          <p:cNvSpPr/>
          <p:nvPr/>
        </p:nvSpPr>
        <p:spPr>
          <a:xfrm>
            <a:off x="2119407" y="484214"/>
            <a:ext cx="3375460" cy="30163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0715A57-4E91-43DF-86D9-73D863C6EA38}"/>
              </a:ext>
            </a:extLst>
          </p:cNvPr>
          <p:cNvSpPr txBox="1"/>
          <p:nvPr/>
        </p:nvSpPr>
        <p:spPr>
          <a:xfrm>
            <a:off x="2874521" y="545769"/>
            <a:ext cx="2124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Risco Médio por Serviço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D4550C4-C10E-4984-BD89-70A367B166C3}"/>
              </a:ext>
            </a:extLst>
          </p:cNvPr>
          <p:cNvSpPr/>
          <p:nvPr/>
        </p:nvSpPr>
        <p:spPr>
          <a:xfrm>
            <a:off x="5920016" y="484214"/>
            <a:ext cx="5905643" cy="173566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7963E7-6E81-4DB5-968A-8AE5DB679349}"/>
              </a:ext>
            </a:extLst>
          </p:cNvPr>
          <p:cNvSpPr txBox="1"/>
          <p:nvPr/>
        </p:nvSpPr>
        <p:spPr>
          <a:xfrm>
            <a:off x="6602449" y="615066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Streaming de TV</a:t>
            </a:r>
          </a:p>
        </p:txBody>
      </p:sp>
      <p:pic>
        <p:nvPicPr>
          <p:cNvPr id="61" name="Gráfico 60" descr="Aviso com preenchimento sólido">
            <a:extLst>
              <a:ext uri="{FF2B5EF4-FFF2-40B4-BE49-F238E27FC236}">
                <a16:creationId xmlns:a16="http://schemas.microsoft.com/office/drawing/2014/main" id="{411F1B98-A65A-45C5-A619-1CF4640C8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8538" y="627379"/>
            <a:ext cx="360000" cy="360000"/>
          </a:xfrm>
          <a:prstGeom prst="rect">
            <a:avLst/>
          </a:prstGeom>
        </p:spPr>
      </p:pic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44BE7BF-AC6A-41F0-882C-F6ED02884823}"/>
              </a:ext>
            </a:extLst>
          </p:cNvPr>
          <p:cNvSpPr/>
          <p:nvPr/>
        </p:nvSpPr>
        <p:spPr>
          <a:xfrm>
            <a:off x="5920016" y="2547553"/>
            <a:ext cx="5905643" cy="173566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A0FD3EE-B441-4347-8CB9-FEB56DEBFEF7}"/>
              </a:ext>
            </a:extLst>
          </p:cNvPr>
          <p:cNvSpPr txBox="1"/>
          <p:nvPr/>
        </p:nvSpPr>
        <p:spPr>
          <a:xfrm>
            <a:off x="6602449" y="267840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Streaming de Filmes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765DFEA-128C-40CF-9CCB-741EA50194F4}"/>
              </a:ext>
            </a:extLst>
          </p:cNvPr>
          <p:cNvSpPr/>
          <p:nvPr/>
        </p:nvSpPr>
        <p:spPr>
          <a:xfrm>
            <a:off x="7065818" y="4610893"/>
            <a:ext cx="4759841" cy="207370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AAC13D0-F937-4BE6-ABD3-4EEBB9F87268}"/>
              </a:ext>
            </a:extLst>
          </p:cNvPr>
          <p:cNvSpPr txBox="1"/>
          <p:nvPr/>
        </p:nvSpPr>
        <p:spPr>
          <a:xfrm>
            <a:off x="7758589" y="4743890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Serviço de Internet</a:t>
            </a:r>
          </a:p>
        </p:txBody>
      </p:sp>
      <p:pic>
        <p:nvPicPr>
          <p:cNvPr id="3" name="Gráfico 2" descr="Câmera de vídeo com preenchimento sólido">
            <a:extLst>
              <a:ext uri="{FF2B5EF4-FFF2-40B4-BE49-F238E27FC236}">
                <a16:creationId xmlns:a16="http://schemas.microsoft.com/office/drawing/2014/main" id="{31AA19ED-7D72-4E62-960D-365D9E60C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633" y="2650671"/>
            <a:ext cx="360000" cy="360000"/>
          </a:xfrm>
          <a:prstGeom prst="rect">
            <a:avLst/>
          </a:prstGeom>
        </p:spPr>
      </p:pic>
      <p:pic>
        <p:nvPicPr>
          <p:cNvPr id="5" name="Gráfico 4" descr="Smartphone com preenchimento sólido">
            <a:extLst>
              <a:ext uri="{FF2B5EF4-FFF2-40B4-BE49-F238E27FC236}">
                <a16:creationId xmlns:a16="http://schemas.microsoft.com/office/drawing/2014/main" id="{63D38D21-5DBF-4FBC-8395-AEC4C3840F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3096" y="4716640"/>
            <a:ext cx="360000" cy="360000"/>
          </a:xfrm>
          <a:prstGeom prst="rect">
            <a:avLst/>
          </a:prstGeom>
        </p:spPr>
      </p:pic>
      <p:pic>
        <p:nvPicPr>
          <p:cNvPr id="8" name="Gráfico 7" descr="Monitor com preenchimento sólido">
            <a:extLst>
              <a:ext uri="{FF2B5EF4-FFF2-40B4-BE49-F238E27FC236}">
                <a16:creationId xmlns:a16="http://schemas.microsoft.com/office/drawing/2014/main" id="{CC538167-71C3-49F4-A406-00C84C143B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2115" y="615066"/>
            <a:ext cx="360000" cy="360000"/>
          </a:xfrm>
          <a:prstGeom prst="rect">
            <a:avLst/>
          </a:prstGeom>
        </p:spPr>
      </p:pic>
      <p:pic>
        <p:nvPicPr>
          <p:cNvPr id="11" name="Gráfico 10" descr="Internet com preenchimento sólido">
            <a:extLst>
              <a:ext uri="{FF2B5EF4-FFF2-40B4-BE49-F238E27FC236}">
                <a16:creationId xmlns:a16="http://schemas.microsoft.com/office/drawing/2014/main" id="{A0C1D845-B779-419D-908D-06BFCFB6B2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04630" y="4733085"/>
            <a:ext cx="360000" cy="360000"/>
          </a:xfrm>
          <a:prstGeom prst="rect">
            <a:avLst/>
          </a:prstGeom>
        </p:spPr>
      </p:pic>
      <p:pic>
        <p:nvPicPr>
          <p:cNvPr id="16" name="Gráfico 15" descr="Setas de Divisão com preenchimento sólido">
            <a:extLst>
              <a:ext uri="{FF2B5EF4-FFF2-40B4-BE49-F238E27FC236}">
                <a16:creationId xmlns:a16="http://schemas.microsoft.com/office/drawing/2014/main" id="{4B4AB9A3-CD31-44A7-8E77-1F2F85246F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49937" y="36078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9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339989BC-DD4D-4E50-B221-87AC8F89A874}"/>
              </a:ext>
            </a:extLst>
          </p:cNvPr>
          <p:cNvSpPr/>
          <p:nvPr/>
        </p:nvSpPr>
        <p:spPr>
          <a:xfrm rot="5400000">
            <a:off x="-2721317" y="2394833"/>
            <a:ext cx="7162801" cy="1763530"/>
          </a:xfrm>
          <a:prstGeom prst="round2SameRect">
            <a:avLst/>
          </a:prstGeom>
          <a:solidFill>
            <a:srgbClr val="3A3F6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AAB12C-0010-4307-840C-52113B52F1FF}"/>
              </a:ext>
            </a:extLst>
          </p:cNvPr>
          <p:cNvSpPr/>
          <p:nvPr/>
        </p:nvSpPr>
        <p:spPr>
          <a:xfrm>
            <a:off x="2026941" y="4067798"/>
            <a:ext cx="4623137" cy="26167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E2649E-A249-4002-9B2E-A34A26E2F275}"/>
              </a:ext>
            </a:extLst>
          </p:cNvPr>
          <p:cNvSpPr txBox="1"/>
          <p:nvPr/>
        </p:nvSpPr>
        <p:spPr>
          <a:xfrm>
            <a:off x="2697651" y="4255310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Método de Pagamento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3AD1838-DA89-4936-BBCC-D7BDB8ABEE4C}"/>
              </a:ext>
            </a:extLst>
          </p:cNvPr>
          <p:cNvSpPr txBox="1"/>
          <p:nvPr/>
        </p:nvSpPr>
        <p:spPr>
          <a:xfrm>
            <a:off x="40798" y="484214"/>
            <a:ext cx="1567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Dados de Contrato e Pagamento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4A0ED93-D9E9-40B3-9A80-830D319669C3}"/>
              </a:ext>
            </a:extLst>
          </p:cNvPr>
          <p:cNvSpPr/>
          <p:nvPr/>
        </p:nvSpPr>
        <p:spPr>
          <a:xfrm>
            <a:off x="8450199" y="578726"/>
            <a:ext cx="3375460" cy="30163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0715A57-4E91-43DF-86D9-73D863C6EA38}"/>
              </a:ext>
            </a:extLst>
          </p:cNvPr>
          <p:cNvSpPr txBox="1"/>
          <p:nvPr/>
        </p:nvSpPr>
        <p:spPr>
          <a:xfrm>
            <a:off x="9205313" y="640281"/>
            <a:ext cx="2124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Tempo Médio de Contrato (meses)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D4550C4-C10E-4984-BD89-70A367B166C3}"/>
              </a:ext>
            </a:extLst>
          </p:cNvPr>
          <p:cNvSpPr/>
          <p:nvPr/>
        </p:nvSpPr>
        <p:spPr>
          <a:xfrm>
            <a:off x="2026941" y="578726"/>
            <a:ext cx="5905643" cy="301636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7963E7-6E81-4DB5-968A-8AE5DB679349}"/>
              </a:ext>
            </a:extLst>
          </p:cNvPr>
          <p:cNvSpPr txBox="1"/>
          <p:nvPr/>
        </p:nvSpPr>
        <p:spPr>
          <a:xfrm>
            <a:off x="2709374" y="709578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Tipo de Contrato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765DFEA-128C-40CF-9CCB-741EA50194F4}"/>
              </a:ext>
            </a:extLst>
          </p:cNvPr>
          <p:cNvSpPr/>
          <p:nvPr/>
        </p:nvSpPr>
        <p:spPr>
          <a:xfrm>
            <a:off x="7065818" y="4067799"/>
            <a:ext cx="4759841" cy="26168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AAC13D0-F937-4BE6-ABD3-4EEBB9F87268}"/>
              </a:ext>
            </a:extLst>
          </p:cNvPr>
          <p:cNvSpPr txBox="1"/>
          <p:nvPr/>
        </p:nvSpPr>
        <p:spPr>
          <a:xfrm>
            <a:off x="7801318" y="4238865"/>
            <a:ext cx="21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Fatura Digital</a:t>
            </a:r>
          </a:p>
        </p:txBody>
      </p:sp>
      <p:pic>
        <p:nvPicPr>
          <p:cNvPr id="4" name="Gráfico 3" descr="Smartphone com preenchimento sólido">
            <a:extLst>
              <a:ext uri="{FF2B5EF4-FFF2-40B4-BE49-F238E27FC236}">
                <a16:creationId xmlns:a16="http://schemas.microsoft.com/office/drawing/2014/main" id="{DFC78B3F-E205-4448-BA29-1A9E96E48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0166" y="4193198"/>
            <a:ext cx="432000" cy="432000"/>
          </a:xfrm>
          <a:prstGeom prst="rect">
            <a:avLst/>
          </a:prstGeom>
        </p:spPr>
      </p:pic>
      <p:pic>
        <p:nvPicPr>
          <p:cNvPr id="9" name="Gráfico 8" descr="Documento com preenchimento sólido">
            <a:extLst>
              <a:ext uri="{FF2B5EF4-FFF2-40B4-BE49-F238E27FC236}">
                <a16:creationId xmlns:a16="http://schemas.microsoft.com/office/drawing/2014/main" id="{569A684C-9661-4806-A2B0-E3FC3B197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9102" y="657355"/>
            <a:ext cx="360000" cy="360000"/>
          </a:xfrm>
          <a:prstGeom prst="rect">
            <a:avLst/>
          </a:prstGeom>
        </p:spPr>
      </p:pic>
      <p:pic>
        <p:nvPicPr>
          <p:cNvPr id="12" name="Gráfico 11" descr="Aperto de mão com preenchimento sólido">
            <a:extLst>
              <a:ext uri="{FF2B5EF4-FFF2-40B4-BE49-F238E27FC236}">
                <a16:creationId xmlns:a16="http://schemas.microsoft.com/office/drawing/2014/main" id="{026B75E8-5E77-45F5-8C7F-EFA92A1319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0506" y="685891"/>
            <a:ext cx="432000" cy="432000"/>
          </a:xfrm>
          <a:prstGeom prst="rect">
            <a:avLst/>
          </a:prstGeom>
        </p:spPr>
      </p:pic>
      <p:pic>
        <p:nvPicPr>
          <p:cNvPr id="14" name="Gráfico 13" descr="Moedas com preenchimento sólido">
            <a:extLst>
              <a:ext uri="{FF2B5EF4-FFF2-40B4-BE49-F238E27FC236}">
                <a16:creationId xmlns:a16="http://schemas.microsoft.com/office/drawing/2014/main" id="{9BECDAB7-3A8C-4074-8D88-71936C3AEE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6319" y="4176753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97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74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Giovanni Sousa</dc:creator>
  <cp:lastModifiedBy>Giovanni Sousa</cp:lastModifiedBy>
  <cp:revision>23</cp:revision>
  <dcterms:created xsi:type="dcterms:W3CDTF">2025-09-23T17:19:02Z</dcterms:created>
  <dcterms:modified xsi:type="dcterms:W3CDTF">2025-11-09T19:45:22Z</dcterms:modified>
</cp:coreProperties>
</file>